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4" r:id="rId5"/>
    <p:sldId id="265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9296400" y="-762000"/>
            <a:ext cx="3657600" cy="3657600"/>
          </a:xfrm>
          <a:prstGeom prst="roundRect">
            <a:avLst/>
          </a:prstGeom>
          <a:solidFill>
            <a:srgbClr val="2563E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7086" y="2286001"/>
            <a:ext cx="3657600" cy="4408384"/>
          </a:xfrm>
          <a:prstGeom prst="roundRect">
            <a:avLst/>
          </a:prstGeom>
          <a:solidFill>
            <a:srgbClr val="4F46E5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solidFill>
                  <a:schemeClr val="accent2"/>
                </a:solidFill>
                <a:latin typeface="Arial" panose="020B0604020202020204" pitchFamily="34" charset="0"/>
              </a:rPr>
              <a:t>Capstone Team 4: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solidFill>
                <a:schemeClr val="accent2"/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i="1" dirty="0">
                <a:latin typeface="Arial" panose="020B0604020202020204" pitchFamily="34" charset="0"/>
              </a:rPr>
              <a:t>Joy,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i="1" dirty="0">
                <a:latin typeface="Arial" panose="020B0604020202020204" pitchFamily="34" charset="0"/>
              </a:rPr>
              <a:t>Sadan,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i="1" dirty="0">
                <a:latin typeface="Arial" panose="020B0604020202020204" pitchFamily="34" charset="0"/>
              </a:rPr>
              <a:t>Mahesh,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i="1" dirty="0">
                <a:latin typeface="Arial" panose="020B0604020202020204" pitchFamily="34" charset="0"/>
              </a:rPr>
              <a:t>Praveen,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i="1" dirty="0">
                <a:latin typeface="Arial" panose="020B0604020202020204" pitchFamily="34" charset="0"/>
              </a:rPr>
              <a:t>Puneetha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i="1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accent2"/>
                </a:solidFill>
                <a:latin typeface="Arial" panose="020B0604020202020204" pitchFamily="34" charset="0"/>
              </a:rPr>
              <a:t>Date : 05/09/2026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734800" cy="1131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4500"/>
              </a:lnSpc>
            </a:pPr>
            <a:r>
              <a:rPr sz="3600" b="1" dirty="0">
                <a:solidFill>
                  <a:srgbClr val="FFFFFF"/>
                </a:solidFill>
                <a:latin typeface="Inter"/>
              </a:rPr>
              <a:t>Development Workflow</a:t>
            </a:r>
            <a:r>
              <a:rPr lang="en-IN" sz="3600" b="1" dirty="0">
                <a:solidFill>
                  <a:srgbClr val="FFFFFF"/>
                </a:solidFill>
                <a:latin typeface="Inter"/>
              </a:rPr>
              <a:t> </a:t>
            </a:r>
            <a:r>
              <a:rPr lang="en-US" sz="3600" b="1" dirty="0">
                <a:solidFill>
                  <a:srgbClr val="FFFFFF"/>
                </a:solidFill>
                <a:latin typeface="Inter"/>
              </a:rPr>
              <a:t>in Enterprise SDLC: Coding, Review 			load, Real Productivity on Private Repositories</a:t>
            </a:r>
            <a:endParaRPr sz="3600" b="1" dirty="0">
              <a:solidFill>
                <a:srgbClr val="FFFFFF"/>
              </a:solidFill>
              <a:latin typeface="Inter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38875"/>
            <a:ext cx="171450" cy="133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4850" y="6210300"/>
            <a:ext cx="21907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 i="0" u="none" dirty="0">
                <a:solidFill>
                  <a:srgbClr val="94A3B8"/>
                </a:solidFill>
                <a:latin typeface="Inter"/>
              </a:rPr>
              <a:t>Software Delivery Lifecycle (SDLC)</a:t>
            </a:r>
          </a:p>
        </p:txBody>
      </p:sp>
      <p:sp>
        <p:nvSpPr>
          <p:cNvPr id="13" name="Rounded Rectangle 3">
            <a:extLst>
              <a:ext uri="{FF2B5EF4-FFF2-40B4-BE49-F238E27FC236}">
                <a16:creationId xmlns:a16="http://schemas.microsoft.com/office/drawing/2014/main" id="{983E3F63-CBA1-EE2D-6BF6-C9F5C93677C5}"/>
              </a:ext>
            </a:extLst>
          </p:cNvPr>
          <p:cNvSpPr/>
          <p:nvPr/>
        </p:nvSpPr>
        <p:spPr>
          <a:xfrm>
            <a:off x="4691743" y="2286001"/>
            <a:ext cx="3657600" cy="2906486"/>
          </a:xfrm>
          <a:prstGeom prst="roundRect">
            <a:avLst/>
          </a:prstGeom>
          <a:solidFill>
            <a:srgbClr val="4F46E5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solidFill>
                  <a:schemeClr val="accent2"/>
                </a:solidFill>
                <a:latin typeface="Arial" panose="020B0604020202020204" pitchFamily="34" charset="0"/>
              </a:rPr>
              <a:t>Mentors: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i="1" dirty="0">
                <a:latin typeface="Arial" panose="020B0604020202020204" pitchFamily="34" charset="0"/>
              </a:rPr>
              <a:t>Prof. </a:t>
            </a:r>
            <a:r>
              <a:rPr lang="en-US" altLang="en-US" sz="2000" i="1" dirty="0" err="1">
                <a:latin typeface="Arial" panose="020B0604020202020204" pitchFamily="34" charset="0"/>
              </a:rPr>
              <a:t>Dr.Narayana</a:t>
            </a:r>
            <a:r>
              <a:rPr lang="en-US" altLang="en-US" sz="2000" i="1" dirty="0">
                <a:latin typeface="Arial" panose="020B0604020202020204" pitchFamily="34" charset="0"/>
              </a:rPr>
              <a:t> </a:t>
            </a:r>
            <a:r>
              <a:rPr lang="en-US" altLang="en-US" sz="2000" i="1" dirty="0" err="1">
                <a:latin typeface="Arial" panose="020B0604020202020204" pitchFamily="34" charset="0"/>
              </a:rPr>
              <a:t>Darapaneni</a:t>
            </a:r>
            <a:endParaRPr lang="en-US" altLang="en-US" sz="2000" i="1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i="1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i="1" dirty="0">
                <a:latin typeface="Arial" panose="020B0604020202020204" pitchFamily="34" charset="0"/>
              </a:rPr>
              <a:t>Prof. Anwesh Reddy 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/>
          <p:cNvSpPr txBox="1"/>
          <p:nvPr/>
        </p:nvSpPr>
        <p:spPr>
          <a:xfrm>
            <a:off x="491822" y="368488"/>
            <a:ext cx="4095750" cy="525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endParaRPr lang="en-IN" sz="3600" b="1" i="0" u="none" dirty="0">
              <a:solidFill>
                <a:srgbClr val="60A5FA"/>
              </a:solidFill>
              <a:latin typeface="Inter"/>
            </a:endParaRPr>
          </a:p>
          <a:p>
            <a:pPr algn="l">
              <a:lnSpc>
                <a:spcPts val="1800"/>
              </a:lnSpc>
            </a:pPr>
            <a:r>
              <a:rPr sz="3600" b="1" i="0" u="none" dirty="0">
                <a:solidFill>
                  <a:srgbClr val="60A5FA"/>
                </a:solidFill>
                <a:latin typeface="Inter"/>
              </a:rPr>
              <a:t>Process Visualization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36974" y="1490372"/>
            <a:ext cx="2257425" cy="637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00"/>
              </a:lnSpc>
            </a:pPr>
            <a:endParaRPr lang="en-IN" b="0" i="0" u="none" dirty="0">
              <a:solidFill>
                <a:srgbClr val="00B050"/>
              </a:solidFill>
              <a:latin typeface="Inter"/>
            </a:endParaRPr>
          </a:p>
          <a:p>
            <a:pPr algn="ctr">
              <a:lnSpc>
                <a:spcPts val="1200"/>
              </a:lnSpc>
            </a:pPr>
            <a:r>
              <a:rPr b="0" i="0" u="none" dirty="0">
                <a:solidFill>
                  <a:srgbClr val="00B050"/>
                </a:solidFill>
                <a:latin typeface="Inter"/>
              </a:rPr>
              <a:t>Phase 1: Analysis &amp; </a:t>
            </a:r>
            <a:endParaRPr lang="en-IN" b="0" i="0" u="none" dirty="0">
              <a:solidFill>
                <a:srgbClr val="00B050"/>
              </a:solidFill>
              <a:latin typeface="Inter"/>
            </a:endParaRPr>
          </a:p>
          <a:p>
            <a:pPr algn="ctr">
              <a:lnSpc>
                <a:spcPts val="1200"/>
              </a:lnSpc>
            </a:pPr>
            <a:endParaRPr lang="en-IN" b="0" i="0" u="none" dirty="0">
              <a:solidFill>
                <a:srgbClr val="00B050"/>
              </a:solidFill>
              <a:latin typeface="Inter"/>
            </a:endParaRPr>
          </a:p>
          <a:p>
            <a:pPr algn="ctr">
              <a:lnSpc>
                <a:spcPts val="1200"/>
              </a:lnSpc>
            </a:pPr>
            <a:r>
              <a:rPr b="0" i="0" u="none" dirty="0">
                <a:solidFill>
                  <a:srgbClr val="00B050"/>
                </a:solidFill>
                <a:latin typeface="Inter"/>
              </a:rPr>
              <a:t>Generation (Steps 1–</a:t>
            </a:r>
            <a:r>
              <a:rPr lang="en-IN" b="0" i="0" u="none" dirty="0">
                <a:solidFill>
                  <a:srgbClr val="00B050"/>
                </a:solidFill>
                <a:latin typeface="Inter"/>
              </a:rPr>
              <a:t>4</a:t>
            </a:r>
            <a:r>
              <a:rPr b="0" i="0" u="none" dirty="0">
                <a:solidFill>
                  <a:srgbClr val="00B050"/>
                </a:solidFill>
                <a:latin typeface="Inter"/>
              </a:rPr>
              <a:t>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36974" y="5629374"/>
            <a:ext cx="2667000" cy="637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00"/>
              </a:lnSpc>
            </a:pPr>
            <a:endParaRPr lang="en-IN" b="0" i="0" u="none" dirty="0">
              <a:solidFill>
                <a:schemeClr val="accent6">
                  <a:lumMod val="75000"/>
                </a:schemeClr>
              </a:solidFill>
              <a:latin typeface="Inter"/>
            </a:endParaRPr>
          </a:p>
          <a:p>
            <a:pPr algn="ctr">
              <a:lnSpc>
                <a:spcPts val="1200"/>
              </a:lnSpc>
            </a:pPr>
            <a:r>
              <a:rPr b="0" i="0" u="none" dirty="0">
                <a:solidFill>
                  <a:schemeClr val="accent6">
                    <a:lumMod val="75000"/>
                  </a:schemeClr>
                </a:solidFill>
                <a:latin typeface="Inter"/>
              </a:rPr>
              <a:t>Phase 2: Review, Validation </a:t>
            </a:r>
            <a:endParaRPr lang="en-IN" b="0" i="0" u="none" dirty="0">
              <a:solidFill>
                <a:schemeClr val="accent6">
                  <a:lumMod val="75000"/>
                </a:schemeClr>
              </a:solidFill>
              <a:latin typeface="Inter"/>
            </a:endParaRPr>
          </a:p>
          <a:p>
            <a:pPr algn="ctr">
              <a:lnSpc>
                <a:spcPts val="1200"/>
              </a:lnSpc>
            </a:pPr>
            <a:endParaRPr lang="en-IN" dirty="0">
              <a:solidFill>
                <a:schemeClr val="accent6">
                  <a:lumMod val="75000"/>
                </a:schemeClr>
              </a:solidFill>
              <a:latin typeface="Inter"/>
            </a:endParaRPr>
          </a:p>
          <a:p>
            <a:pPr algn="ctr">
              <a:lnSpc>
                <a:spcPts val="1200"/>
              </a:lnSpc>
            </a:pPr>
            <a:r>
              <a:rPr b="0" i="0" u="none" dirty="0">
                <a:solidFill>
                  <a:schemeClr val="accent6">
                    <a:lumMod val="75000"/>
                  </a:schemeClr>
                </a:solidFill>
                <a:latin typeface="Inter"/>
              </a:rPr>
              <a:t>&amp; Closure (Steps </a:t>
            </a:r>
            <a:r>
              <a:rPr lang="en-IN" b="0" i="0" u="none" dirty="0">
                <a:solidFill>
                  <a:schemeClr val="accent6">
                    <a:lumMod val="75000"/>
                  </a:schemeClr>
                </a:solidFill>
                <a:latin typeface="Inter"/>
              </a:rPr>
              <a:t>5</a:t>
            </a:r>
            <a:r>
              <a:rPr b="0" i="0" u="none" dirty="0">
                <a:solidFill>
                  <a:schemeClr val="accent6">
                    <a:lumMod val="75000"/>
                  </a:schemeClr>
                </a:solidFill>
                <a:latin typeface="Inter"/>
              </a:rPr>
              <a:t>–</a:t>
            </a:r>
            <a:r>
              <a:rPr lang="en-IN" b="0" i="0" u="none" dirty="0">
                <a:solidFill>
                  <a:schemeClr val="accent6">
                    <a:lumMod val="75000"/>
                  </a:schemeClr>
                </a:solidFill>
                <a:latin typeface="Inter"/>
              </a:rPr>
              <a:t>8</a:t>
            </a:r>
            <a:r>
              <a:rPr b="0" i="0" u="none" dirty="0">
                <a:solidFill>
                  <a:schemeClr val="accent6">
                    <a:lumMod val="75000"/>
                  </a:schemeClr>
                </a:solidFill>
                <a:latin typeface="Inter"/>
              </a:rPr>
              <a:t>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8363" y="1195100"/>
            <a:ext cx="4300537" cy="12150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1" i="0" u="none" dirty="0">
                <a:solidFill>
                  <a:srgbClr val="FFFFFF"/>
                </a:solidFill>
                <a:latin typeface="Inter"/>
              </a:rPr>
              <a:t>Complete </a:t>
            </a:r>
            <a:r>
              <a:rPr lang="en-IN" b="1" dirty="0">
                <a:solidFill>
                  <a:srgbClr val="FFFFFF"/>
                </a:solidFill>
                <a:latin typeface="Inter"/>
              </a:rPr>
              <a:t>8 </a:t>
            </a:r>
            <a:r>
              <a:rPr sz="1800" b="1" i="0" u="none" dirty="0">
                <a:solidFill>
                  <a:srgbClr val="FFFFFF"/>
                </a:solidFill>
                <a:latin typeface="Inter"/>
              </a:rPr>
              <a:t>Step </a:t>
            </a:r>
            <a:r>
              <a:rPr lang="en-IN" sz="1800" b="1" i="0" u="none" dirty="0">
                <a:solidFill>
                  <a:srgbClr val="FFFFFF"/>
                </a:solidFill>
                <a:latin typeface="Inter"/>
              </a:rPr>
              <a:t> SDLC </a:t>
            </a:r>
            <a:r>
              <a:rPr sz="1800" b="1" i="0" u="none" dirty="0">
                <a:solidFill>
                  <a:srgbClr val="FFFFFF"/>
                </a:solidFill>
                <a:latin typeface="Inter"/>
              </a:rPr>
              <a:t>Flow</a:t>
            </a:r>
            <a:r>
              <a:rPr lang="en-IN" sz="1800" b="1" i="0" u="none" dirty="0">
                <a:solidFill>
                  <a:srgbClr val="FFFFFF"/>
                </a:solidFill>
                <a:latin typeface="Inter"/>
              </a:rPr>
              <a:t> : Involving 	Orchestrators, Agents, LLMs (Human in Loop), MCPs</a:t>
            </a:r>
          </a:p>
          <a:p>
            <a:pPr algn="l">
              <a:lnSpc>
                <a:spcPts val="2400"/>
              </a:lnSpc>
            </a:pPr>
            <a:r>
              <a:rPr lang="en-IN" sz="1800" b="1" i="0" u="none" dirty="0">
                <a:solidFill>
                  <a:srgbClr val="FFFFFF"/>
                </a:solidFill>
                <a:latin typeface="Inter"/>
              </a:rPr>
              <a:t> </a:t>
            </a:r>
            <a:endParaRPr sz="1800" b="1" i="0" u="none" dirty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629737" y="3441025"/>
            <a:ext cx="1033463" cy="1763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200"/>
              </a:lnSpc>
            </a:pPr>
            <a:r>
              <a:rPr b="1" i="0" u="none" dirty="0">
                <a:solidFill>
                  <a:srgbClr val="34D399"/>
                </a:solidFill>
                <a:latin typeface="Inter"/>
              </a:rPr>
              <a:t>START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4448" y="2553505"/>
            <a:ext cx="363587" cy="52885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693033" y="5310321"/>
            <a:ext cx="692692" cy="1763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200"/>
              </a:lnSpc>
            </a:pPr>
            <a:r>
              <a:rPr b="1" i="0" u="none" dirty="0">
                <a:solidFill>
                  <a:srgbClr val="FB7185"/>
                </a:solidFill>
                <a:latin typeface="Inter"/>
              </a:rPr>
              <a:t>END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8327" y="4507706"/>
            <a:ext cx="414594" cy="603046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1039" y="2664472"/>
            <a:ext cx="403585" cy="46877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972364" y="3398368"/>
            <a:ext cx="2615208" cy="484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b="1" i="0" u="none" dirty="0">
                <a:solidFill>
                  <a:srgbClr val="F1F5F9"/>
                </a:solidFill>
                <a:latin typeface="Inter"/>
              </a:rPr>
              <a:t>Requirements </a:t>
            </a:r>
            <a:endParaRPr lang="en-IN" b="1" i="0" u="none" dirty="0">
              <a:solidFill>
                <a:srgbClr val="F1F5F9"/>
              </a:solidFill>
              <a:latin typeface="Inter"/>
            </a:endParaRPr>
          </a:p>
          <a:p>
            <a:pPr algn="ctr">
              <a:lnSpc>
                <a:spcPts val="1237"/>
              </a:lnSpc>
            </a:pPr>
            <a:endParaRPr lang="en-IN" b="1" dirty="0">
              <a:solidFill>
                <a:srgbClr val="F1F5F9"/>
              </a:solidFill>
              <a:latin typeface="Inter"/>
            </a:endParaRPr>
          </a:p>
          <a:p>
            <a:pPr algn="ctr">
              <a:lnSpc>
                <a:spcPts val="1237"/>
              </a:lnSpc>
            </a:pPr>
            <a:r>
              <a:rPr lang="en-IN" b="1" dirty="0">
                <a:solidFill>
                  <a:srgbClr val="F1F5F9"/>
                </a:solidFill>
                <a:latin typeface="Inter"/>
              </a:rPr>
              <a:t>Gathering</a:t>
            </a:r>
            <a:endParaRPr b="1" i="0" u="none" dirty="0">
              <a:solidFill>
                <a:srgbClr val="F1F5F9"/>
              </a:solidFill>
              <a:latin typeface="Inter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356430" y="3290870"/>
            <a:ext cx="1367432" cy="3370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37"/>
              </a:lnSpc>
            </a:pPr>
            <a:endParaRPr lang="en-IN" b="1" i="0" u="none" dirty="0">
              <a:solidFill>
                <a:srgbClr val="F1F5F9"/>
              </a:solidFill>
              <a:latin typeface="Inter"/>
            </a:endParaRPr>
          </a:p>
          <a:p>
            <a:pPr algn="ctr">
              <a:lnSpc>
                <a:spcPts val="1237"/>
              </a:lnSpc>
            </a:pPr>
            <a:r>
              <a:rPr b="1" i="0" u="none" dirty="0">
                <a:solidFill>
                  <a:srgbClr val="F1F5F9"/>
                </a:solidFill>
                <a:latin typeface="Inter"/>
              </a:rPr>
              <a:t>Design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34892" y="3157674"/>
            <a:ext cx="1367432" cy="484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37"/>
              </a:lnSpc>
            </a:pPr>
            <a:endParaRPr lang="en-IN" b="1" i="0" u="none" dirty="0">
              <a:solidFill>
                <a:srgbClr val="F1F5F9"/>
              </a:solidFill>
              <a:latin typeface="Inter"/>
            </a:endParaRPr>
          </a:p>
          <a:p>
            <a:pPr algn="ctr">
              <a:lnSpc>
                <a:spcPts val="1237"/>
              </a:lnSpc>
            </a:pPr>
            <a:r>
              <a:rPr b="1" i="0" u="none" dirty="0">
                <a:solidFill>
                  <a:srgbClr val="F1F5F9"/>
                </a:solidFill>
                <a:latin typeface="Inter"/>
              </a:rPr>
              <a:t>Code</a:t>
            </a:r>
            <a:endParaRPr lang="en-IN" b="1" i="0" u="none" dirty="0">
              <a:solidFill>
                <a:srgbClr val="F1F5F9"/>
              </a:solidFill>
              <a:latin typeface="Inter"/>
            </a:endParaRPr>
          </a:p>
          <a:p>
            <a:pPr algn="ctr">
              <a:lnSpc>
                <a:spcPts val="1237"/>
              </a:lnSpc>
            </a:pPr>
            <a:r>
              <a:rPr b="1" i="0" u="none" dirty="0">
                <a:solidFill>
                  <a:srgbClr val="F1F5F9"/>
                </a:solidFill>
                <a:latin typeface="Inter"/>
              </a:rPr>
              <a:t>Generation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3647" y="3401429"/>
            <a:ext cx="460361" cy="920728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5850" y="4556454"/>
            <a:ext cx="344825" cy="358843"/>
          </a:xfrm>
          <a:prstGeom prst="rect">
            <a:avLst/>
          </a:prstGeom>
        </p:spPr>
      </p:pic>
      <p:sp>
        <p:nvSpPr>
          <p:cNvPr id="71" name="Oval 70">
            <a:extLst>
              <a:ext uri="{FF2B5EF4-FFF2-40B4-BE49-F238E27FC236}">
                <a16:creationId xmlns:a16="http://schemas.microsoft.com/office/drawing/2014/main" id="{E23BFE89-4951-D235-BE15-B5885882B5DA}"/>
              </a:ext>
            </a:extLst>
          </p:cNvPr>
          <p:cNvSpPr/>
          <p:nvPr/>
        </p:nvSpPr>
        <p:spPr>
          <a:xfrm>
            <a:off x="2947338" y="2573306"/>
            <a:ext cx="512416" cy="48235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/>
              <a:t>1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8B2B3345-DAE4-8A41-37CB-D7B6A22DD894}"/>
              </a:ext>
            </a:extLst>
          </p:cNvPr>
          <p:cNvSpPr/>
          <p:nvPr/>
        </p:nvSpPr>
        <p:spPr>
          <a:xfrm>
            <a:off x="4792692" y="2573306"/>
            <a:ext cx="512416" cy="48235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/>
              <a:t>2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2ED06A2A-8C2C-36A0-E299-5B0A2C19A128}"/>
              </a:ext>
            </a:extLst>
          </p:cNvPr>
          <p:cNvSpPr/>
          <p:nvPr/>
        </p:nvSpPr>
        <p:spPr>
          <a:xfrm>
            <a:off x="6660440" y="2569027"/>
            <a:ext cx="512416" cy="48235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/>
              <a:t>3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BB5300B1-504E-0AEE-CE27-E2CFA0C86711}"/>
              </a:ext>
            </a:extLst>
          </p:cNvPr>
          <p:cNvSpPr/>
          <p:nvPr/>
        </p:nvSpPr>
        <p:spPr>
          <a:xfrm>
            <a:off x="8299633" y="2571870"/>
            <a:ext cx="512416" cy="48235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/>
              <a:t>4</a:t>
            </a:r>
          </a:p>
        </p:txBody>
      </p:sp>
      <p:pic>
        <p:nvPicPr>
          <p:cNvPr id="79" name="Picture 78" descr="image.png">
            <a:extLst>
              <a:ext uri="{FF2B5EF4-FFF2-40B4-BE49-F238E27FC236}">
                <a16:creationId xmlns:a16="http://schemas.microsoft.com/office/drawing/2014/main" id="{25F35D2E-715D-624B-E736-6A58EA60F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7006" y="2552699"/>
            <a:ext cx="363587" cy="528854"/>
          </a:xfrm>
          <a:prstGeom prst="rect">
            <a:avLst/>
          </a:prstGeom>
        </p:spPr>
      </p:pic>
      <p:pic>
        <p:nvPicPr>
          <p:cNvPr id="81" name="Picture 80" descr="image.png">
            <a:extLst>
              <a:ext uri="{FF2B5EF4-FFF2-40B4-BE49-F238E27FC236}">
                <a16:creationId xmlns:a16="http://schemas.microsoft.com/office/drawing/2014/main" id="{BA2AF5F0-D638-C2BF-C55C-F71C42308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4098" y="2561667"/>
            <a:ext cx="363587" cy="528854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1A9D4CD8-F52D-E81A-8B7C-17AB498E7ED7}"/>
              </a:ext>
            </a:extLst>
          </p:cNvPr>
          <p:cNvSpPr txBox="1"/>
          <p:nvPr/>
        </p:nvSpPr>
        <p:spPr>
          <a:xfrm>
            <a:off x="7944951" y="3143778"/>
            <a:ext cx="1367432" cy="637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37"/>
              </a:lnSpc>
            </a:pPr>
            <a:endParaRPr lang="en-IN" b="1" i="0" u="none" dirty="0">
              <a:solidFill>
                <a:srgbClr val="F1F5F9"/>
              </a:solidFill>
              <a:latin typeface="Inter"/>
            </a:endParaRPr>
          </a:p>
          <a:p>
            <a:pPr algn="ctr">
              <a:lnSpc>
                <a:spcPts val="1237"/>
              </a:lnSpc>
            </a:pPr>
            <a:r>
              <a:rPr lang="en-IN" b="1" i="0" u="none" dirty="0">
                <a:solidFill>
                  <a:srgbClr val="F1F5F9"/>
                </a:solidFill>
                <a:latin typeface="Inter"/>
              </a:rPr>
              <a:t>Testing/</a:t>
            </a:r>
          </a:p>
          <a:p>
            <a:pPr algn="ctr">
              <a:lnSpc>
                <a:spcPts val="1237"/>
              </a:lnSpc>
            </a:pPr>
            <a:endParaRPr lang="en-IN" b="1" dirty="0">
              <a:solidFill>
                <a:srgbClr val="F1F5F9"/>
              </a:solidFill>
              <a:latin typeface="Inter"/>
            </a:endParaRPr>
          </a:p>
          <a:p>
            <a:pPr algn="ctr">
              <a:lnSpc>
                <a:spcPts val="1237"/>
              </a:lnSpc>
            </a:pPr>
            <a:r>
              <a:rPr lang="en-IN" b="1" i="0" u="none" dirty="0">
                <a:solidFill>
                  <a:srgbClr val="F1F5F9"/>
                </a:solidFill>
                <a:latin typeface="Inter"/>
              </a:rPr>
              <a:t>Validation</a:t>
            </a:r>
            <a:endParaRPr b="1" i="0" u="none" dirty="0">
              <a:solidFill>
                <a:srgbClr val="F1F5F9"/>
              </a:solidFill>
              <a:latin typeface="Inter"/>
            </a:endParaRP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CDDE822B-212C-E158-26E4-D99401B8BE70}"/>
              </a:ext>
            </a:extLst>
          </p:cNvPr>
          <p:cNvSpPr/>
          <p:nvPr/>
        </p:nvSpPr>
        <p:spPr>
          <a:xfrm>
            <a:off x="8375830" y="4553069"/>
            <a:ext cx="512416" cy="48235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/>
              <a:t>5</a:t>
            </a:r>
          </a:p>
        </p:txBody>
      </p:sp>
      <p:pic>
        <p:nvPicPr>
          <p:cNvPr id="87" name="Picture 86" descr="image.png">
            <a:extLst>
              <a:ext uri="{FF2B5EF4-FFF2-40B4-BE49-F238E27FC236}">
                <a16:creationId xmlns:a16="http://schemas.microsoft.com/office/drawing/2014/main" id="{969FCEBD-F204-524D-2988-11BBF136C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0241" y="2572552"/>
            <a:ext cx="363587" cy="528854"/>
          </a:xfrm>
          <a:prstGeom prst="rect">
            <a:avLst/>
          </a:prstGeom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CA74DBEE-26D7-948E-AA16-AB398A523E8D}"/>
              </a:ext>
            </a:extLst>
          </p:cNvPr>
          <p:cNvSpPr txBox="1"/>
          <p:nvPr/>
        </p:nvSpPr>
        <p:spPr>
          <a:xfrm>
            <a:off x="8021148" y="5124977"/>
            <a:ext cx="1367432" cy="33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37"/>
              </a:lnSpc>
            </a:pPr>
            <a:endParaRPr lang="en-IN" b="1" i="0" u="none" dirty="0">
              <a:solidFill>
                <a:srgbClr val="F1F5F9"/>
              </a:solidFill>
              <a:latin typeface="Inter"/>
            </a:endParaRPr>
          </a:p>
          <a:p>
            <a:pPr algn="ctr">
              <a:lnSpc>
                <a:spcPts val="1237"/>
              </a:lnSpc>
            </a:pPr>
            <a:r>
              <a:rPr lang="en-IN" b="1" i="0" u="none" dirty="0">
                <a:solidFill>
                  <a:srgbClr val="F1F5F9"/>
                </a:solidFill>
                <a:latin typeface="Inter"/>
              </a:rPr>
              <a:t>Code Review</a:t>
            </a:r>
            <a:endParaRPr b="1" i="0" u="none" dirty="0">
              <a:solidFill>
                <a:srgbClr val="F1F5F9"/>
              </a:solidFill>
              <a:latin typeface="Inter"/>
            </a:endParaRP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26665F03-986D-F868-417B-69763C989EB3}"/>
              </a:ext>
            </a:extLst>
          </p:cNvPr>
          <p:cNvSpPr/>
          <p:nvPr/>
        </p:nvSpPr>
        <p:spPr>
          <a:xfrm>
            <a:off x="6753862" y="4553070"/>
            <a:ext cx="512416" cy="48235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/>
              <a:t>6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976437F-F78A-A7D7-23E5-971B6C334394}"/>
              </a:ext>
            </a:extLst>
          </p:cNvPr>
          <p:cNvSpPr txBox="1"/>
          <p:nvPr/>
        </p:nvSpPr>
        <p:spPr>
          <a:xfrm>
            <a:off x="6399180" y="5124978"/>
            <a:ext cx="1367432" cy="945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37"/>
              </a:lnSpc>
            </a:pPr>
            <a:endParaRPr lang="en-IN" b="1" i="0" u="none" dirty="0">
              <a:solidFill>
                <a:srgbClr val="F1F5F9"/>
              </a:solidFill>
              <a:latin typeface="Inter"/>
            </a:endParaRPr>
          </a:p>
          <a:p>
            <a:pPr algn="ctr">
              <a:lnSpc>
                <a:spcPts val="1237"/>
              </a:lnSpc>
            </a:pPr>
            <a:r>
              <a:rPr lang="en-IN" b="1" i="0" u="none" dirty="0">
                <a:solidFill>
                  <a:srgbClr val="F1F5F9"/>
                </a:solidFill>
                <a:latin typeface="Inter"/>
              </a:rPr>
              <a:t>Central </a:t>
            </a:r>
          </a:p>
          <a:p>
            <a:pPr algn="ctr">
              <a:lnSpc>
                <a:spcPts val="1237"/>
              </a:lnSpc>
            </a:pPr>
            <a:endParaRPr lang="en-IN" b="1" i="0" u="none" dirty="0">
              <a:solidFill>
                <a:srgbClr val="F1F5F9"/>
              </a:solidFill>
              <a:latin typeface="Inter"/>
            </a:endParaRPr>
          </a:p>
          <a:p>
            <a:pPr algn="ctr">
              <a:lnSpc>
                <a:spcPts val="1237"/>
              </a:lnSpc>
            </a:pPr>
            <a:r>
              <a:rPr lang="en-IN" b="1" i="0" u="none" dirty="0">
                <a:solidFill>
                  <a:srgbClr val="F1F5F9"/>
                </a:solidFill>
                <a:latin typeface="Inter"/>
              </a:rPr>
              <a:t>Repository</a:t>
            </a:r>
          </a:p>
          <a:p>
            <a:pPr algn="ctr">
              <a:lnSpc>
                <a:spcPts val="1237"/>
              </a:lnSpc>
            </a:pPr>
            <a:r>
              <a:rPr lang="en-IN" b="1" i="0" u="none" dirty="0">
                <a:solidFill>
                  <a:srgbClr val="F1F5F9"/>
                </a:solidFill>
                <a:latin typeface="Inter"/>
              </a:rPr>
              <a:t> </a:t>
            </a:r>
          </a:p>
          <a:p>
            <a:pPr algn="ctr">
              <a:lnSpc>
                <a:spcPts val="1237"/>
              </a:lnSpc>
            </a:pPr>
            <a:r>
              <a:rPr lang="en-IN" b="1" i="0" u="none" dirty="0">
                <a:solidFill>
                  <a:srgbClr val="F1F5F9"/>
                </a:solidFill>
                <a:latin typeface="Inter"/>
              </a:rPr>
              <a:t>Validation</a:t>
            </a: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FC04A2A4-52F6-8C0D-E29D-748F9E1AB1AC}"/>
              </a:ext>
            </a:extLst>
          </p:cNvPr>
          <p:cNvSpPr/>
          <p:nvPr/>
        </p:nvSpPr>
        <p:spPr>
          <a:xfrm>
            <a:off x="4957719" y="4585728"/>
            <a:ext cx="512416" cy="48235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/>
              <a:t>7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A153F95-103D-3224-F3BF-6AB1280F67E2}"/>
              </a:ext>
            </a:extLst>
          </p:cNvPr>
          <p:cNvSpPr txBox="1"/>
          <p:nvPr/>
        </p:nvSpPr>
        <p:spPr>
          <a:xfrm>
            <a:off x="4530211" y="5143759"/>
            <a:ext cx="1367432" cy="945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37"/>
              </a:lnSpc>
            </a:pPr>
            <a:endParaRPr lang="en-IN" b="1" i="0" u="none" dirty="0">
              <a:solidFill>
                <a:srgbClr val="F1F5F9"/>
              </a:solidFill>
              <a:latin typeface="Inter"/>
            </a:endParaRPr>
          </a:p>
          <a:p>
            <a:pPr algn="ctr">
              <a:lnSpc>
                <a:spcPts val="1237"/>
              </a:lnSpc>
            </a:pPr>
            <a:r>
              <a:rPr lang="en-IN" b="1" dirty="0">
                <a:solidFill>
                  <a:srgbClr val="F1F5F9"/>
                </a:solidFill>
                <a:latin typeface="Inter"/>
              </a:rPr>
              <a:t>Definition of</a:t>
            </a:r>
          </a:p>
          <a:p>
            <a:pPr algn="ctr">
              <a:lnSpc>
                <a:spcPts val="1237"/>
              </a:lnSpc>
            </a:pPr>
            <a:r>
              <a:rPr lang="en-IN" b="1" dirty="0">
                <a:solidFill>
                  <a:srgbClr val="F1F5F9"/>
                </a:solidFill>
                <a:latin typeface="Inter"/>
              </a:rPr>
              <a:t> </a:t>
            </a:r>
          </a:p>
          <a:p>
            <a:pPr algn="ctr">
              <a:lnSpc>
                <a:spcPts val="1237"/>
              </a:lnSpc>
            </a:pPr>
            <a:r>
              <a:rPr lang="en-IN" b="1" dirty="0">
                <a:solidFill>
                  <a:srgbClr val="F1F5F9"/>
                </a:solidFill>
                <a:latin typeface="Inter"/>
              </a:rPr>
              <a:t>Done</a:t>
            </a:r>
          </a:p>
          <a:p>
            <a:pPr algn="ctr">
              <a:lnSpc>
                <a:spcPts val="1237"/>
              </a:lnSpc>
            </a:pPr>
            <a:endParaRPr lang="en-IN" b="1" dirty="0">
              <a:solidFill>
                <a:srgbClr val="F1F5F9"/>
              </a:solidFill>
              <a:latin typeface="Inter"/>
            </a:endParaRPr>
          </a:p>
          <a:p>
            <a:pPr algn="ctr">
              <a:lnSpc>
                <a:spcPts val="1237"/>
              </a:lnSpc>
            </a:pPr>
            <a:r>
              <a:rPr lang="en-IN" b="1" i="0" u="none" dirty="0">
                <a:solidFill>
                  <a:srgbClr val="F1F5F9"/>
                </a:solidFill>
                <a:latin typeface="Inter"/>
              </a:rPr>
              <a:t>Validation</a:t>
            </a:r>
            <a:endParaRPr b="1" i="0" u="none" dirty="0">
              <a:solidFill>
                <a:srgbClr val="F1F5F9"/>
              </a:solidFill>
              <a:latin typeface="Inter"/>
            </a:endParaRPr>
          </a:p>
        </p:txBody>
      </p:sp>
      <p:pic>
        <p:nvPicPr>
          <p:cNvPr id="101" name="Picture 100" descr="image.png">
            <a:extLst>
              <a:ext uri="{FF2B5EF4-FFF2-40B4-BE49-F238E27FC236}">
                <a16:creationId xmlns:a16="http://schemas.microsoft.com/office/drawing/2014/main" id="{8C356441-393E-28BB-BB77-7A1D8AE9D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0927" y="4518588"/>
            <a:ext cx="414594" cy="603046"/>
          </a:xfrm>
          <a:prstGeom prst="rect">
            <a:avLst/>
          </a:prstGeom>
        </p:spPr>
      </p:pic>
      <p:sp>
        <p:nvSpPr>
          <p:cNvPr id="103" name="Oval 102">
            <a:extLst>
              <a:ext uri="{FF2B5EF4-FFF2-40B4-BE49-F238E27FC236}">
                <a16:creationId xmlns:a16="http://schemas.microsoft.com/office/drawing/2014/main" id="{870FEA9C-024C-7B07-EEFC-60C778BA69C0}"/>
              </a:ext>
            </a:extLst>
          </p:cNvPr>
          <p:cNvSpPr/>
          <p:nvPr/>
        </p:nvSpPr>
        <p:spPr>
          <a:xfrm>
            <a:off x="2900319" y="4596610"/>
            <a:ext cx="512416" cy="48235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/>
              <a:t>8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81D83E7-65D9-A6A3-291F-53A33C95600E}"/>
              </a:ext>
            </a:extLst>
          </p:cNvPr>
          <p:cNvSpPr txBox="1"/>
          <p:nvPr/>
        </p:nvSpPr>
        <p:spPr>
          <a:xfrm>
            <a:off x="2472811" y="5143759"/>
            <a:ext cx="1367432" cy="33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37"/>
              </a:lnSpc>
            </a:pPr>
            <a:endParaRPr lang="en-IN" b="1" i="0" u="none" dirty="0">
              <a:solidFill>
                <a:srgbClr val="F1F5F9"/>
              </a:solidFill>
              <a:latin typeface="Inter"/>
            </a:endParaRPr>
          </a:p>
          <a:p>
            <a:pPr algn="ctr">
              <a:lnSpc>
                <a:spcPts val="1237"/>
              </a:lnSpc>
            </a:pPr>
            <a:r>
              <a:rPr lang="en-IN" b="1" dirty="0">
                <a:solidFill>
                  <a:srgbClr val="F1F5F9"/>
                </a:solidFill>
                <a:latin typeface="Inter"/>
              </a:rPr>
              <a:t>Work Closure</a:t>
            </a:r>
            <a:endParaRPr b="1" i="0" u="none" dirty="0">
              <a:solidFill>
                <a:srgbClr val="F1F5F9"/>
              </a:solidFill>
              <a:latin typeface="Inter"/>
            </a:endParaRPr>
          </a:p>
        </p:txBody>
      </p:sp>
      <p:pic>
        <p:nvPicPr>
          <p:cNvPr id="107" name="Picture 106" descr="image.png">
            <a:extLst>
              <a:ext uri="{FF2B5EF4-FFF2-40B4-BE49-F238E27FC236}">
                <a16:creationId xmlns:a16="http://schemas.microsoft.com/office/drawing/2014/main" id="{A1B85E7F-782E-53CB-457B-0EB1EC854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3213" y="4518591"/>
            <a:ext cx="414594" cy="603046"/>
          </a:xfrm>
          <a:prstGeom prst="rect">
            <a:avLst/>
          </a:prstGeom>
        </p:spPr>
      </p:pic>
      <p:pic>
        <p:nvPicPr>
          <p:cNvPr id="109" name="Picture 108" descr="image.png">
            <a:extLst>
              <a:ext uri="{FF2B5EF4-FFF2-40B4-BE49-F238E27FC236}">
                <a16:creationId xmlns:a16="http://schemas.microsoft.com/office/drawing/2014/main" id="{067BAD6A-D7D2-7D93-530D-A6EABD638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9614" y="4518590"/>
            <a:ext cx="414594" cy="60304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381000" y="381000"/>
            <a:ext cx="4343400" cy="729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endParaRPr lang="en-IN" sz="2800" b="1" i="0" u="none" dirty="0">
              <a:solidFill>
                <a:srgbClr val="60A5FA"/>
              </a:solidFill>
              <a:latin typeface="Inter"/>
            </a:endParaRPr>
          </a:p>
          <a:p>
            <a:pPr algn="l">
              <a:lnSpc>
                <a:spcPts val="1800"/>
              </a:lnSpc>
            </a:pPr>
            <a:r>
              <a:rPr sz="2800" b="1" i="0" u="none" dirty="0">
                <a:solidFill>
                  <a:srgbClr val="60A5FA"/>
                </a:solidFill>
                <a:latin typeface="Inter"/>
              </a:rPr>
              <a:t>Phase 1 • Initial Setup</a:t>
            </a:r>
            <a:endParaRPr lang="en-IN" sz="2800" b="1" i="0" u="none" dirty="0">
              <a:solidFill>
                <a:srgbClr val="60A5FA"/>
              </a:solidFill>
              <a:latin typeface="Inter"/>
            </a:endParaRPr>
          </a:p>
          <a:p>
            <a:pPr algn="l">
              <a:lnSpc>
                <a:spcPts val="1800"/>
              </a:lnSpc>
            </a:pPr>
            <a:r>
              <a:rPr lang="en-IN" sz="2800" b="1" i="0" u="none" dirty="0">
                <a:solidFill>
                  <a:srgbClr val="60A5FA"/>
                </a:solidFill>
                <a:latin typeface="Inter"/>
              </a:rPr>
              <a:t>		</a:t>
            </a:r>
            <a:endParaRPr sz="2800" b="1" i="0" u="none" dirty="0">
              <a:solidFill>
                <a:srgbClr val="60A5FA"/>
              </a:solidFill>
              <a:latin typeface="Inter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2C8969D-5EB2-B423-CDC5-FEB488E2F0E5}"/>
              </a:ext>
            </a:extLst>
          </p:cNvPr>
          <p:cNvSpPr txBox="1"/>
          <p:nvPr/>
        </p:nvSpPr>
        <p:spPr>
          <a:xfrm>
            <a:off x="1164772" y="1116842"/>
            <a:ext cx="7707085" cy="2077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 algn="l">
              <a:lnSpc>
                <a:spcPts val="2700"/>
              </a:lnSpc>
              <a:buFont typeface="Wingdings" panose="05000000000000000000" pitchFamily="2" charset="2"/>
              <a:buChar char="ü"/>
            </a:pPr>
            <a:r>
              <a:rPr sz="2250" b="1" i="0" u="none" dirty="0">
                <a:solidFill>
                  <a:srgbClr val="FFFFFF"/>
                </a:solidFill>
                <a:latin typeface="Inter"/>
              </a:rPr>
              <a:t>Requirements </a:t>
            </a:r>
            <a:r>
              <a:rPr lang="en-IN" sz="2250" b="1" i="0" u="none" dirty="0">
                <a:solidFill>
                  <a:srgbClr val="FFFFFF"/>
                </a:solidFill>
                <a:latin typeface="Inter"/>
              </a:rPr>
              <a:t>Gathering</a:t>
            </a:r>
            <a:r>
              <a:rPr sz="2250" b="1" i="0" u="none" dirty="0">
                <a:solidFill>
                  <a:srgbClr val="FFFFFF"/>
                </a:solidFill>
                <a:latin typeface="Inter"/>
              </a:rPr>
              <a:t> &amp; Codebase Analysis</a:t>
            </a:r>
            <a:endParaRPr lang="en-IN" sz="2250" b="1" i="0" u="none" dirty="0">
              <a:solidFill>
                <a:srgbClr val="FFFFFF"/>
              </a:solidFill>
              <a:latin typeface="Inter"/>
            </a:endParaRPr>
          </a:p>
          <a:p>
            <a:pPr marL="342900" indent="-342900">
              <a:lnSpc>
                <a:spcPts val="2700"/>
              </a:lnSpc>
              <a:buFont typeface="Wingdings" panose="05000000000000000000" pitchFamily="2" charset="2"/>
              <a:buChar char="ü"/>
            </a:pPr>
            <a:r>
              <a:rPr lang="en-IN" sz="2250" b="1" dirty="0">
                <a:solidFill>
                  <a:srgbClr val="FFFFFF"/>
                </a:solidFill>
                <a:latin typeface="Inter"/>
              </a:rPr>
              <a:t>Design </a:t>
            </a:r>
          </a:p>
          <a:p>
            <a:pPr marL="342900" indent="-342900">
              <a:lnSpc>
                <a:spcPts val="2700"/>
              </a:lnSpc>
              <a:buFont typeface="Wingdings" panose="05000000000000000000" pitchFamily="2" charset="2"/>
              <a:buChar char="ü"/>
            </a:pPr>
            <a:r>
              <a:rPr lang="en-IN" sz="2250" b="1" dirty="0">
                <a:solidFill>
                  <a:srgbClr val="FFFFFF"/>
                </a:solidFill>
                <a:latin typeface="Inter"/>
              </a:rPr>
              <a:t>Code Generation</a:t>
            </a:r>
          </a:p>
          <a:p>
            <a:pPr marL="342900" indent="-342900">
              <a:lnSpc>
                <a:spcPts val="2700"/>
              </a:lnSpc>
              <a:buFont typeface="Wingdings" panose="05000000000000000000" pitchFamily="2" charset="2"/>
              <a:buChar char="ü"/>
            </a:pPr>
            <a:r>
              <a:rPr lang="en-IN" sz="2250" b="1" dirty="0">
                <a:solidFill>
                  <a:srgbClr val="FFFFFF"/>
                </a:solidFill>
                <a:latin typeface="Inter"/>
              </a:rPr>
              <a:t>Test Plan and Test Cases Generation</a:t>
            </a:r>
          </a:p>
          <a:p>
            <a:pPr marL="342900" indent="-342900" algn="l">
              <a:lnSpc>
                <a:spcPts val="2700"/>
              </a:lnSpc>
              <a:buFont typeface="Wingdings" panose="05000000000000000000" pitchFamily="2" charset="2"/>
              <a:buChar char="ü"/>
            </a:pPr>
            <a:endParaRPr lang="en-IN" sz="2250" b="1" i="0" u="none" dirty="0">
              <a:solidFill>
                <a:srgbClr val="FFFFFF"/>
              </a:solidFill>
              <a:latin typeface="Inter"/>
            </a:endParaRPr>
          </a:p>
          <a:p>
            <a:pPr marL="342900" indent="-342900" algn="l">
              <a:lnSpc>
                <a:spcPts val="2700"/>
              </a:lnSpc>
              <a:buFont typeface="Wingdings" panose="05000000000000000000" pitchFamily="2" charset="2"/>
              <a:buChar char="ü"/>
            </a:pPr>
            <a:endParaRPr sz="2250" b="1" i="0" u="none" dirty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35FE774-F383-75A9-36AF-7757194712A8}"/>
              </a:ext>
            </a:extLst>
          </p:cNvPr>
          <p:cNvSpPr txBox="1"/>
          <p:nvPr/>
        </p:nvSpPr>
        <p:spPr>
          <a:xfrm>
            <a:off x="359229" y="3276597"/>
            <a:ext cx="4343400" cy="729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endParaRPr lang="en-IN" sz="2800" b="1" i="0" u="none" dirty="0">
              <a:solidFill>
                <a:srgbClr val="60A5FA"/>
              </a:solidFill>
              <a:latin typeface="Inter"/>
            </a:endParaRPr>
          </a:p>
          <a:p>
            <a:pPr algn="l">
              <a:lnSpc>
                <a:spcPts val="1800"/>
              </a:lnSpc>
            </a:pPr>
            <a:r>
              <a:rPr sz="2800" b="1" i="0" u="none" dirty="0">
                <a:solidFill>
                  <a:srgbClr val="60A5FA"/>
                </a:solidFill>
                <a:latin typeface="Inter"/>
              </a:rPr>
              <a:t>Phase </a:t>
            </a:r>
            <a:r>
              <a:rPr lang="en-IN" sz="2800" b="1" i="0" u="none" dirty="0">
                <a:solidFill>
                  <a:srgbClr val="60A5FA"/>
                </a:solidFill>
                <a:latin typeface="Inter"/>
              </a:rPr>
              <a:t>2</a:t>
            </a:r>
            <a:r>
              <a:rPr sz="2800" b="1" i="0" u="none" dirty="0">
                <a:solidFill>
                  <a:srgbClr val="60A5FA"/>
                </a:solidFill>
                <a:latin typeface="Inter"/>
              </a:rPr>
              <a:t> •</a:t>
            </a:r>
            <a:r>
              <a:rPr lang="en-IN" sz="2800" b="1" i="0" u="none" dirty="0">
                <a:solidFill>
                  <a:srgbClr val="60A5FA"/>
                </a:solidFill>
                <a:latin typeface="Inter"/>
              </a:rPr>
              <a:t> Review &amp; Closure</a:t>
            </a:r>
          </a:p>
          <a:p>
            <a:pPr algn="l">
              <a:lnSpc>
                <a:spcPts val="1800"/>
              </a:lnSpc>
            </a:pPr>
            <a:r>
              <a:rPr lang="en-IN" sz="2800" b="1" i="0" u="none" dirty="0">
                <a:solidFill>
                  <a:srgbClr val="60A5FA"/>
                </a:solidFill>
                <a:latin typeface="Inter"/>
              </a:rPr>
              <a:t>		</a:t>
            </a:r>
            <a:endParaRPr sz="2800" b="1" i="0" u="none" dirty="0">
              <a:solidFill>
                <a:srgbClr val="60A5FA"/>
              </a:solidFill>
              <a:latin typeface="Inter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3ACA4CE-6C4A-0347-F17C-1FB8DB4DC0D3}"/>
              </a:ext>
            </a:extLst>
          </p:cNvPr>
          <p:cNvSpPr txBox="1"/>
          <p:nvPr/>
        </p:nvSpPr>
        <p:spPr>
          <a:xfrm>
            <a:off x="1143001" y="4012439"/>
            <a:ext cx="7707085" cy="2077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 algn="l">
              <a:lnSpc>
                <a:spcPts val="2700"/>
              </a:lnSpc>
              <a:buFont typeface="Wingdings" panose="05000000000000000000" pitchFamily="2" charset="2"/>
              <a:buChar char="ü"/>
            </a:pPr>
            <a:r>
              <a:rPr sz="2250" b="1" i="0" u="none" dirty="0">
                <a:solidFill>
                  <a:srgbClr val="FFFFFF"/>
                </a:solidFill>
                <a:latin typeface="Inter"/>
              </a:rPr>
              <a:t>Requirements </a:t>
            </a:r>
            <a:r>
              <a:rPr lang="en-IN" sz="2250" b="1" i="0" u="none" dirty="0">
                <a:solidFill>
                  <a:srgbClr val="FFFFFF"/>
                </a:solidFill>
                <a:latin typeface="Inter"/>
              </a:rPr>
              <a:t>Gathering</a:t>
            </a:r>
            <a:r>
              <a:rPr sz="2250" b="1" i="0" u="none" dirty="0">
                <a:solidFill>
                  <a:srgbClr val="FFFFFF"/>
                </a:solidFill>
                <a:latin typeface="Inter"/>
              </a:rPr>
              <a:t> &amp; Codebase Analysis</a:t>
            </a:r>
            <a:endParaRPr lang="en-IN" sz="2250" b="1" i="0" u="none" dirty="0">
              <a:solidFill>
                <a:srgbClr val="FFFFFF"/>
              </a:solidFill>
              <a:latin typeface="Inter"/>
            </a:endParaRPr>
          </a:p>
          <a:p>
            <a:pPr marL="342900" indent="-342900">
              <a:lnSpc>
                <a:spcPts val="2700"/>
              </a:lnSpc>
              <a:buFont typeface="Wingdings" panose="05000000000000000000" pitchFamily="2" charset="2"/>
              <a:buChar char="ü"/>
            </a:pPr>
            <a:r>
              <a:rPr lang="en-IN" sz="2250" b="1" dirty="0">
                <a:solidFill>
                  <a:srgbClr val="FFFFFF"/>
                </a:solidFill>
                <a:latin typeface="Inter"/>
              </a:rPr>
              <a:t>Design </a:t>
            </a:r>
          </a:p>
          <a:p>
            <a:pPr marL="342900" indent="-342900">
              <a:lnSpc>
                <a:spcPts val="2700"/>
              </a:lnSpc>
              <a:buFont typeface="Wingdings" panose="05000000000000000000" pitchFamily="2" charset="2"/>
              <a:buChar char="ü"/>
            </a:pPr>
            <a:r>
              <a:rPr lang="en-IN" sz="2250" b="1" dirty="0">
                <a:solidFill>
                  <a:srgbClr val="FFFFFF"/>
                </a:solidFill>
                <a:latin typeface="Inter"/>
              </a:rPr>
              <a:t>Code Generation</a:t>
            </a:r>
          </a:p>
          <a:p>
            <a:pPr marL="342900" indent="-342900">
              <a:lnSpc>
                <a:spcPts val="2700"/>
              </a:lnSpc>
              <a:buFont typeface="Wingdings" panose="05000000000000000000" pitchFamily="2" charset="2"/>
              <a:buChar char="ü"/>
            </a:pPr>
            <a:r>
              <a:rPr lang="en-IN" sz="2250" b="1" dirty="0">
                <a:solidFill>
                  <a:srgbClr val="FFFFFF"/>
                </a:solidFill>
                <a:latin typeface="Inter"/>
              </a:rPr>
              <a:t>Test Plan and Test Cases Generation</a:t>
            </a:r>
          </a:p>
          <a:p>
            <a:pPr marL="342900" indent="-342900" algn="l">
              <a:lnSpc>
                <a:spcPts val="2700"/>
              </a:lnSpc>
              <a:buFont typeface="Wingdings" panose="05000000000000000000" pitchFamily="2" charset="2"/>
              <a:buChar char="ü"/>
            </a:pPr>
            <a:endParaRPr lang="en-IN" sz="2250" b="1" i="0" u="none" dirty="0">
              <a:solidFill>
                <a:srgbClr val="FFFFFF"/>
              </a:solidFill>
              <a:latin typeface="Inter"/>
            </a:endParaRPr>
          </a:p>
          <a:p>
            <a:pPr marL="342900" indent="-342900" algn="l">
              <a:lnSpc>
                <a:spcPts val="2700"/>
              </a:lnSpc>
              <a:buFont typeface="Wingdings" panose="05000000000000000000" pitchFamily="2" charset="2"/>
              <a:buChar char="ü"/>
            </a:pPr>
            <a:endParaRPr sz="2250" b="1" i="0" u="none" dirty="0">
              <a:solidFill>
                <a:srgbClr val="FFFFFF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261257" y="1926772"/>
            <a:ext cx="3682900" cy="4528456"/>
          </a:xfrm>
          <a:prstGeom prst="roundRect">
            <a:avLst>
              <a:gd name="adj" fmla="val 6521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244876" y="1926772"/>
            <a:ext cx="3683049" cy="4550228"/>
          </a:xfrm>
          <a:prstGeom prst="roundRect">
            <a:avLst>
              <a:gd name="adj" fmla="val 6521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8644" y="1926772"/>
            <a:ext cx="3682900" cy="4528456"/>
          </a:xfrm>
          <a:prstGeom prst="roundRect">
            <a:avLst>
              <a:gd name="adj" fmla="val 6521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1000" y="381000"/>
            <a:ext cx="11811000" cy="7278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endParaRPr lang="en-IN" sz="3600" b="1" i="0" u="none" dirty="0">
              <a:solidFill>
                <a:srgbClr val="FFFFFF"/>
              </a:solidFill>
              <a:latin typeface="Inter"/>
            </a:endParaRPr>
          </a:p>
          <a:p>
            <a:pPr algn="l">
              <a:lnSpc>
                <a:spcPts val="2700"/>
              </a:lnSpc>
            </a:pPr>
            <a:r>
              <a:rPr sz="3600" b="1" i="0" u="none" dirty="0">
                <a:solidFill>
                  <a:srgbClr val="FFFFFF"/>
                </a:solidFill>
                <a:latin typeface="Inter"/>
              </a:rPr>
              <a:t>Workflow Governance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" y="6036486"/>
            <a:ext cx="3282850" cy="3281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25"/>
              </a:lnSpc>
            </a:pPr>
            <a:endParaRPr lang="en-IN" sz="2400" b="1" i="0" u="none" dirty="0">
              <a:solidFill>
                <a:srgbClr val="60A5FA"/>
              </a:solidFill>
              <a:latin typeface="Inter"/>
            </a:endParaRPr>
          </a:p>
          <a:p>
            <a:pPr algn="l">
              <a:lnSpc>
                <a:spcPts val="1125"/>
              </a:lnSpc>
            </a:pPr>
            <a:r>
              <a:rPr sz="2400" b="1" i="0" u="none" dirty="0">
                <a:solidFill>
                  <a:srgbClr val="60A5FA"/>
                </a:solidFill>
                <a:latin typeface="Inter"/>
              </a:rPr>
              <a:t>VELOCITY DRIVERS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4926" y="6041095"/>
            <a:ext cx="3282999" cy="3281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25"/>
              </a:lnSpc>
            </a:pPr>
            <a:endParaRPr lang="en-IN" sz="2400" b="1" i="0" u="none" dirty="0">
              <a:solidFill>
                <a:srgbClr val="818CF8"/>
              </a:solidFill>
              <a:latin typeface="Inter"/>
            </a:endParaRPr>
          </a:p>
          <a:p>
            <a:pPr algn="l">
              <a:lnSpc>
                <a:spcPts val="1125"/>
              </a:lnSpc>
            </a:pPr>
            <a:r>
              <a:rPr sz="2400" b="1" i="0" u="none" dirty="0">
                <a:solidFill>
                  <a:srgbClr val="818CF8"/>
                </a:solidFill>
                <a:latin typeface="Inter"/>
              </a:rPr>
              <a:t>QUALITY ASSURANCE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11922" y="5758490"/>
            <a:ext cx="2335793" cy="610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25"/>
              </a:lnSpc>
            </a:pPr>
            <a:endParaRPr lang="en-IN" sz="2400" b="1" i="0" u="none" dirty="0">
              <a:solidFill>
                <a:srgbClr val="34D399"/>
              </a:solidFill>
              <a:latin typeface="Inter"/>
            </a:endParaRPr>
          </a:p>
          <a:p>
            <a:pPr algn="l">
              <a:lnSpc>
                <a:spcPts val="1125"/>
              </a:lnSpc>
            </a:pPr>
            <a:r>
              <a:rPr sz="2400" b="1" i="0" u="none" dirty="0">
                <a:solidFill>
                  <a:srgbClr val="34D399"/>
                </a:solidFill>
                <a:latin typeface="Inter"/>
              </a:rPr>
              <a:t>OPERATIONAL </a:t>
            </a:r>
            <a:endParaRPr lang="en-IN" sz="2400" b="1" i="0" u="none" dirty="0">
              <a:solidFill>
                <a:srgbClr val="34D399"/>
              </a:solidFill>
              <a:latin typeface="Inter"/>
            </a:endParaRPr>
          </a:p>
          <a:p>
            <a:pPr algn="l">
              <a:lnSpc>
                <a:spcPts val="1125"/>
              </a:lnSpc>
            </a:pPr>
            <a:endParaRPr lang="en-IN" sz="2400" b="1" dirty="0">
              <a:solidFill>
                <a:srgbClr val="34D399"/>
              </a:solidFill>
              <a:latin typeface="Inter"/>
            </a:endParaRPr>
          </a:p>
          <a:p>
            <a:pPr algn="l">
              <a:lnSpc>
                <a:spcPts val="1125"/>
              </a:lnSpc>
            </a:pPr>
            <a:r>
              <a:rPr sz="2400" b="1" i="0" u="none" dirty="0">
                <a:solidFill>
                  <a:srgbClr val="34D399"/>
                </a:solidFill>
                <a:latin typeface="Inter"/>
              </a:rPr>
              <a:t>GOVERNANCE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7432" y="2147887"/>
            <a:ext cx="1909939" cy="9603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endParaRPr lang="en-IN" sz="2800" b="1" i="0" u="none" dirty="0">
              <a:solidFill>
                <a:srgbClr val="F1F5F9"/>
              </a:solidFill>
              <a:latin typeface="Inter"/>
            </a:endParaRPr>
          </a:p>
          <a:p>
            <a:pPr algn="ctr">
              <a:lnSpc>
                <a:spcPts val="1800"/>
              </a:lnSpc>
            </a:pPr>
            <a:r>
              <a:rPr sz="2800" b="1" i="0" u="none" dirty="0">
                <a:solidFill>
                  <a:srgbClr val="F1F5F9"/>
                </a:solidFill>
                <a:latin typeface="Inter"/>
              </a:rPr>
              <a:t>Automation </a:t>
            </a:r>
            <a:endParaRPr lang="en-IN" sz="2800" b="1" i="0" u="none" dirty="0">
              <a:solidFill>
                <a:srgbClr val="F1F5F9"/>
              </a:solidFill>
              <a:latin typeface="Inter"/>
            </a:endParaRPr>
          </a:p>
          <a:p>
            <a:pPr algn="ctr">
              <a:lnSpc>
                <a:spcPts val="1800"/>
              </a:lnSpc>
            </a:pPr>
            <a:endParaRPr lang="en-IN" sz="2800" b="1" dirty="0">
              <a:solidFill>
                <a:srgbClr val="F1F5F9"/>
              </a:solidFill>
              <a:latin typeface="Inter"/>
            </a:endParaRPr>
          </a:p>
          <a:p>
            <a:pPr algn="ctr">
              <a:lnSpc>
                <a:spcPts val="1800"/>
              </a:lnSpc>
            </a:pPr>
            <a:r>
              <a:rPr sz="2800" b="1" i="0" u="none" dirty="0">
                <a:solidFill>
                  <a:srgbClr val="F1F5F9"/>
                </a:solidFill>
                <a:latin typeface="Inter"/>
              </a:rPr>
              <a:t>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025" y="3255102"/>
            <a:ext cx="3282850" cy="30837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600" b="0" i="0" u="none" dirty="0">
                <a:solidFill>
                  <a:srgbClr val="CBD5E1"/>
                </a:solidFill>
                <a:latin typeface="Inter"/>
              </a:rPr>
              <a:t>Steps </a:t>
            </a:r>
            <a:r>
              <a:rPr lang="en-IN" sz="1600" dirty="0">
                <a:solidFill>
                  <a:srgbClr val="CBD5E1"/>
                </a:solidFill>
                <a:latin typeface="Inter"/>
              </a:rPr>
              <a:t>2-6</a:t>
            </a:r>
            <a:r>
              <a:rPr sz="1600" b="0" i="0" u="none" dirty="0">
                <a:solidFill>
                  <a:srgbClr val="CBD5E1"/>
                </a:solidFill>
                <a:latin typeface="Inter"/>
              </a:rPr>
              <a:t> utilize</a:t>
            </a:r>
            <a:r>
              <a:rPr lang="en-IN" sz="1600" b="0" i="0" u="none" dirty="0">
                <a:solidFill>
                  <a:srgbClr val="CBD5E1"/>
                </a:solidFill>
                <a:latin typeface="Inter"/>
              </a:rPr>
              <a:t> Agents/ Sub Agents for</a:t>
            </a:r>
            <a:r>
              <a:rPr sz="1600" b="0" i="0" u="none" dirty="0">
                <a:solidFill>
                  <a:srgbClr val="CBD5E1"/>
                </a:solidFill>
                <a:latin typeface="Inter"/>
              </a:rPr>
              <a:t> </a:t>
            </a:r>
            <a:endParaRPr lang="en-IN" sz="1600" b="0" i="0" u="none" dirty="0">
              <a:solidFill>
                <a:srgbClr val="CBD5E1"/>
              </a:solidFill>
              <a:latin typeface="Inter"/>
            </a:endParaRPr>
          </a:p>
          <a:p>
            <a:pPr algn="l">
              <a:lnSpc>
                <a:spcPts val="1462"/>
              </a:lnSpc>
            </a:pPr>
            <a:endParaRPr lang="en-IN" sz="1600" dirty="0">
              <a:solidFill>
                <a:srgbClr val="CBD5E1"/>
              </a:solidFill>
              <a:latin typeface="Inter"/>
            </a:endParaRPr>
          </a:p>
          <a:p>
            <a:pPr algn="l">
              <a:lnSpc>
                <a:spcPts val="1462"/>
              </a:lnSpc>
            </a:pPr>
            <a:endParaRPr lang="en-IN" sz="1600" dirty="0">
              <a:solidFill>
                <a:srgbClr val="CBD5E1"/>
              </a:solidFill>
              <a:latin typeface="Inter"/>
            </a:endParaRPr>
          </a:p>
          <a:p>
            <a:pPr marL="285750" indent="-285750" algn="l">
              <a:lnSpc>
                <a:spcPts val="1462"/>
              </a:lnSpc>
              <a:buFont typeface="Wingdings" panose="05000000000000000000" pitchFamily="2" charset="2"/>
              <a:buChar char="ü"/>
            </a:pPr>
            <a:r>
              <a:rPr lang="en-IN" sz="1600" dirty="0">
                <a:solidFill>
                  <a:srgbClr val="CBD5E1"/>
                </a:solidFill>
                <a:latin typeface="Inter"/>
              </a:rPr>
              <a:t>A</a:t>
            </a:r>
            <a:r>
              <a:rPr sz="1600" b="0" i="0" u="none" dirty="0" err="1">
                <a:solidFill>
                  <a:srgbClr val="CBD5E1"/>
                </a:solidFill>
                <a:latin typeface="Inter"/>
              </a:rPr>
              <a:t>utomated</a:t>
            </a:r>
            <a:r>
              <a:rPr sz="1600" b="0" i="0" u="none" dirty="0">
                <a:solidFill>
                  <a:srgbClr val="CBD5E1"/>
                </a:solidFill>
                <a:latin typeface="Inter"/>
              </a:rPr>
              <a:t> design</a:t>
            </a:r>
            <a:endParaRPr lang="en-IN" sz="1600" b="0" i="0" u="none" dirty="0">
              <a:solidFill>
                <a:srgbClr val="CBD5E1"/>
              </a:solidFill>
              <a:latin typeface="Inter"/>
            </a:endParaRPr>
          </a:p>
          <a:p>
            <a:pPr marL="285750" indent="-285750" algn="l">
              <a:lnSpc>
                <a:spcPts val="1462"/>
              </a:lnSpc>
              <a:buFont typeface="Wingdings" panose="05000000000000000000" pitchFamily="2" charset="2"/>
              <a:buChar char="ü"/>
            </a:pPr>
            <a:endParaRPr lang="en-IN" sz="1600" dirty="0">
              <a:solidFill>
                <a:srgbClr val="CBD5E1"/>
              </a:solidFill>
              <a:latin typeface="Inter"/>
            </a:endParaRPr>
          </a:p>
          <a:p>
            <a:pPr marL="285750" indent="-285750" algn="l">
              <a:lnSpc>
                <a:spcPts val="1462"/>
              </a:lnSpc>
              <a:buFont typeface="Wingdings" panose="05000000000000000000" pitchFamily="2" charset="2"/>
              <a:buChar char="ü"/>
            </a:pPr>
            <a:r>
              <a:rPr lang="en-IN" sz="1600" dirty="0">
                <a:solidFill>
                  <a:srgbClr val="CBD5E1"/>
                </a:solidFill>
                <a:latin typeface="Inter"/>
              </a:rPr>
              <a:t>Implementation</a:t>
            </a:r>
          </a:p>
          <a:p>
            <a:pPr marL="285750" indent="-285750" algn="l">
              <a:lnSpc>
                <a:spcPts val="1462"/>
              </a:lnSpc>
              <a:buFont typeface="Wingdings" panose="05000000000000000000" pitchFamily="2" charset="2"/>
              <a:buChar char="ü"/>
            </a:pPr>
            <a:endParaRPr lang="en-IN" sz="1600" dirty="0">
              <a:solidFill>
                <a:srgbClr val="CBD5E1"/>
              </a:solidFill>
              <a:latin typeface="Inter"/>
            </a:endParaRPr>
          </a:p>
          <a:p>
            <a:pPr marL="285750" indent="-285750" algn="l">
              <a:lnSpc>
                <a:spcPts val="1462"/>
              </a:lnSpc>
              <a:buFont typeface="Wingdings" panose="05000000000000000000" pitchFamily="2" charset="2"/>
              <a:buChar char="ü"/>
            </a:pPr>
            <a:r>
              <a:rPr lang="en-IN" sz="1600" b="0" i="0" u="none" dirty="0">
                <a:solidFill>
                  <a:srgbClr val="CBD5E1"/>
                </a:solidFill>
                <a:latin typeface="Inter"/>
              </a:rPr>
              <a:t>T</a:t>
            </a:r>
            <a:r>
              <a:rPr sz="1600" b="0" i="0" u="none" dirty="0">
                <a:solidFill>
                  <a:srgbClr val="CBD5E1"/>
                </a:solidFill>
                <a:latin typeface="Inter"/>
              </a:rPr>
              <a:t>est generation </a:t>
            </a:r>
            <a:endParaRPr lang="en-IN" sz="1600" b="0" i="0" u="none" dirty="0">
              <a:solidFill>
                <a:srgbClr val="CBD5E1"/>
              </a:solidFill>
              <a:latin typeface="Inter"/>
            </a:endParaRPr>
          </a:p>
          <a:p>
            <a:pPr marL="285750" indent="-285750" algn="l">
              <a:lnSpc>
                <a:spcPts val="1462"/>
              </a:lnSpc>
              <a:buFont typeface="Wingdings" panose="05000000000000000000" pitchFamily="2" charset="2"/>
              <a:buChar char="ü"/>
            </a:pPr>
            <a:endParaRPr lang="en-IN" sz="1600" dirty="0">
              <a:solidFill>
                <a:srgbClr val="CBD5E1"/>
              </a:solidFill>
              <a:latin typeface="Inter"/>
            </a:endParaRPr>
          </a:p>
          <a:p>
            <a:pPr marL="285750" indent="-285750" algn="l">
              <a:lnSpc>
                <a:spcPts val="1462"/>
              </a:lnSpc>
              <a:buFont typeface="Wingdings" panose="05000000000000000000" pitchFamily="2" charset="2"/>
              <a:buChar char="ü"/>
            </a:pPr>
            <a:r>
              <a:rPr sz="1600" b="0" i="0" u="none" dirty="0">
                <a:solidFill>
                  <a:srgbClr val="CBD5E1"/>
                </a:solidFill>
                <a:latin typeface="Inter"/>
              </a:rPr>
              <a:t>AI code reviews to maximize</a:t>
            </a:r>
            <a:endParaRPr lang="en-IN" sz="1600" dirty="0">
              <a:solidFill>
                <a:srgbClr val="CBD5E1"/>
              </a:solidFill>
              <a:latin typeface="Inter"/>
            </a:endParaRPr>
          </a:p>
          <a:p>
            <a:pPr algn="l">
              <a:lnSpc>
                <a:spcPts val="1462"/>
              </a:lnSpc>
            </a:pPr>
            <a:r>
              <a:rPr lang="en-IN" sz="1600" b="0" i="0" u="none" dirty="0">
                <a:solidFill>
                  <a:srgbClr val="CBD5E1"/>
                </a:solidFill>
                <a:latin typeface="Inter"/>
              </a:rPr>
              <a:t>	</a:t>
            </a:r>
            <a:r>
              <a:rPr sz="1600" b="0" i="0" u="none" dirty="0">
                <a:solidFill>
                  <a:srgbClr val="CBD5E1"/>
                </a:solidFill>
                <a:latin typeface="Inter"/>
              </a:rPr>
              <a:t>velocity</a:t>
            </a:r>
            <a:endParaRPr lang="en-IN" sz="1600" b="0" i="0" u="none" dirty="0">
              <a:solidFill>
                <a:srgbClr val="CBD5E1"/>
              </a:solidFill>
              <a:latin typeface="Inter"/>
            </a:endParaRPr>
          </a:p>
          <a:p>
            <a:pPr marL="285750" indent="-285750" algn="l">
              <a:lnSpc>
                <a:spcPts val="1462"/>
              </a:lnSpc>
              <a:buFont typeface="Wingdings" panose="05000000000000000000" pitchFamily="2" charset="2"/>
              <a:buChar char="ü"/>
            </a:pPr>
            <a:r>
              <a:rPr lang="en-IN" sz="1600" dirty="0">
                <a:solidFill>
                  <a:srgbClr val="CBD5E1"/>
                </a:solidFill>
                <a:latin typeface="Inter"/>
              </a:rPr>
              <a:t>Human in loop</a:t>
            </a:r>
            <a:endParaRPr lang="en-IN" sz="1600" b="0" i="0" u="none" dirty="0">
              <a:solidFill>
                <a:srgbClr val="CBD5E1"/>
              </a:solidFill>
              <a:latin typeface="Inter"/>
            </a:endParaRPr>
          </a:p>
          <a:p>
            <a:pPr algn="l">
              <a:lnSpc>
                <a:spcPts val="1462"/>
              </a:lnSpc>
            </a:pPr>
            <a:endParaRPr lang="en-IN" sz="1600" dirty="0">
              <a:solidFill>
                <a:srgbClr val="CBD5E1"/>
              </a:solidFill>
              <a:latin typeface="Inter"/>
            </a:endParaRPr>
          </a:p>
          <a:p>
            <a:pPr marL="285750" indent="-285750" algn="l">
              <a:lnSpc>
                <a:spcPts val="1462"/>
              </a:lnSpc>
              <a:buFont typeface="Wingdings" panose="05000000000000000000" pitchFamily="2" charset="2"/>
              <a:buChar char="ü"/>
            </a:pPr>
            <a:r>
              <a:rPr lang="en-IN" sz="1600" b="0" i="0" u="none" dirty="0">
                <a:solidFill>
                  <a:srgbClr val="CBD5E1"/>
                </a:solidFill>
                <a:latin typeface="Inter"/>
              </a:rPr>
              <a:t>Guardrails</a:t>
            </a:r>
          </a:p>
          <a:p>
            <a:pPr algn="l">
              <a:lnSpc>
                <a:spcPts val="1462"/>
              </a:lnSpc>
            </a:pPr>
            <a:endParaRPr lang="en-IN" sz="1600" dirty="0">
              <a:solidFill>
                <a:srgbClr val="CBD5E1"/>
              </a:solidFill>
              <a:latin typeface="Inter"/>
            </a:endParaRPr>
          </a:p>
          <a:p>
            <a:pPr algn="l">
              <a:lnSpc>
                <a:spcPts val="1462"/>
              </a:lnSpc>
            </a:pPr>
            <a:endParaRPr sz="1600" b="0" i="0" u="none" dirty="0">
              <a:solidFill>
                <a:srgbClr val="CBD5E1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62925" y="2158093"/>
            <a:ext cx="3447149" cy="4987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endParaRPr lang="en-IN" sz="2800" b="1" i="0" u="none" dirty="0">
              <a:solidFill>
                <a:srgbClr val="F1F5F9"/>
              </a:solidFill>
              <a:latin typeface="Inter"/>
            </a:endParaRPr>
          </a:p>
          <a:p>
            <a:pPr algn="l">
              <a:lnSpc>
                <a:spcPts val="1800"/>
              </a:lnSpc>
            </a:pPr>
            <a:r>
              <a:rPr sz="2800" b="1" i="0" u="none" dirty="0">
                <a:solidFill>
                  <a:srgbClr val="F1F5F9"/>
                </a:solidFill>
                <a:latin typeface="Inter"/>
              </a:rPr>
              <a:t>Quality Gates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539" y="3183210"/>
            <a:ext cx="3282999" cy="11601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ts val="1462"/>
              </a:lnSpc>
              <a:buFont typeface="Wingdings" panose="05000000000000000000" pitchFamily="2" charset="2"/>
              <a:buChar char="ü"/>
            </a:pPr>
            <a:r>
              <a:rPr sz="1600" b="0" i="0" u="none" dirty="0">
                <a:solidFill>
                  <a:srgbClr val="CBD5E1"/>
                </a:solidFill>
                <a:latin typeface="Inter"/>
              </a:rPr>
              <a:t>Strict DOD validation </a:t>
            </a:r>
            <a:endParaRPr lang="en-IN" sz="1600" b="0" i="0" u="none" dirty="0">
              <a:solidFill>
                <a:srgbClr val="CBD5E1"/>
              </a:solidFill>
              <a:latin typeface="Inter"/>
            </a:endParaRPr>
          </a:p>
          <a:p>
            <a:pPr marL="285750" indent="-285750" algn="l">
              <a:lnSpc>
                <a:spcPts val="1462"/>
              </a:lnSpc>
              <a:buFont typeface="Wingdings" panose="05000000000000000000" pitchFamily="2" charset="2"/>
              <a:buChar char="ü"/>
            </a:pPr>
            <a:endParaRPr lang="en-IN" sz="1600" dirty="0">
              <a:solidFill>
                <a:srgbClr val="CBD5E1"/>
              </a:solidFill>
              <a:latin typeface="Inter"/>
            </a:endParaRPr>
          </a:p>
          <a:p>
            <a:pPr marL="285750" indent="-285750" algn="l">
              <a:lnSpc>
                <a:spcPts val="1462"/>
              </a:lnSpc>
              <a:buFont typeface="Wingdings" panose="05000000000000000000" pitchFamily="2" charset="2"/>
              <a:buChar char="ü"/>
            </a:pPr>
            <a:r>
              <a:rPr sz="1600" b="0" i="0" u="none" dirty="0">
                <a:solidFill>
                  <a:srgbClr val="CBD5E1"/>
                </a:solidFill>
                <a:latin typeface="Inter"/>
              </a:rPr>
              <a:t>CI checks ensure</a:t>
            </a:r>
            <a:r>
              <a:rPr lang="en-IN" sz="1600" b="0" i="0" u="none" dirty="0">
                <a:solidFill>
                  <a:srgbClr val="CBD5E1"/>
                </a:solidFill>
                <a:latin typeface="Inter"/>
              </a:rPr>
              <a:t> zero</a:t>
            </a:r>
            <a:r>
              <a:rPr sz="1600" b="0" i="0" u="none" dirty="0">
                <a:solidFill>
                  <a:srgbClr val="CBD5E1"/>
                </a:solidFill>
                <a:latin typeface="Inter"/>
              </a:rPr>
              <a:t> regression releases </a:t>
            </a:r>
            <a:endParaRPr lang="en-IN" sz="1600" b="0" i="0" u="none" dirty="0">
              <a:solidFill>
                <a:srgbClr val="CBD5E1"/>
              </a:solidFill>
              <a:latin typeface="Inter"/>
            </a:endParaRPr>
          </a:p>
          <a:p>
            <a:pPr marL="285750" indent="-285750" algn="l">
              <a:lnSpc>
                <a:spcPts val="1462"/>
              </a:lnSpc>
              <a:buFont typeface="Wingdings" panose="05000000000000000000" pitchFamily="2" charset="2"/>
              <a:buChar char="ü"/>
            </a:pPr>
            <a:endParaRPr lang="en-IN" sz="1600" dirty="0">
              <a:solidFill>
                <a:srgbClr val="CBD5E1"/>
              </a:solidFill>
              <a:latin typeface="Inter"/>
            </a:endParaRPr>
          </a:p>
          <a:p>
            <a:pPr marL="285750" indent="-285750" algn="l">
              <a:lnSpc>
                <a:spcPts val="1462"/>
              </a:lnSpc>
              <a:buFont typeface="Wingdings" panose="05000000000000000000" pitchFamily="2" charset="2"/>
              <a:buChar char="ü"/>
            </a:pPr>
            <a:r>
              <a:rPr lang="en-IN" sz="1600" b="0" i="0" u="none" dirty="0">
                <a:solidFill>
                  <a:srgbClr val="CBD5E1"/>
                </a:solidFill>
                <a:latin typeface="Inter"/>
              </a:rPr>
              <a:t>M</a:t>
            </a:r>
            <a:r>
              <a:rPr sz="1600" b="0" i="0" u="none" dirty="0" err="1">
                <a:solidFill>
                  <a:srgbClr val="CBD5E1"/>
                </a:solidFill>
                <a:latin typeface="Inter"/>
              </a:rPr>
              <a:t>aintain</a:t>
            </a:r>
            <a:r>
              <a:rPr sz="1600" b="0" i="0" u="none" dirty="0">
                <a:solidFill>
                  <a:srgbClr val="CBD5E1"/>
                </a:solidFill>
                <a:latin typeface="Inter"/>
              </a:rPr>
              <a:t> production stability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40309" y="2108755"/>
            <a:ext cx="2401107" cy="4987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endParaRPr lang="en-IN" sz="2800" b="1" i="0" u="none" dirty="0">
              <a:solidFill>
                <a:srgbClr val="F1F5F9"/>
              </a:solidFill>
              <a:latin typeface="Inter"/>
            </a:endParaRPr>
          </a:p>
          <a:p>
            <a:pPr algn="l">
              <a:lnSpc>
                <a:spcPts val="1800"/>
              </a:lnSpc>
            </a:pPr>
            <a:r>
              <a:rPr sz="2800" b="1" i="0" u="none" dirty="0">
                <a:solidFill>
                  <a:srgbClr val="F1F5F9"/>
                </a:solidFill>
                <a:latin typeface="Inter"/>
              </a:rPr>
              <a:t>Full Traceability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2275" y="3167389"/>
            <a:ext cx="3282850" cy="1352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ts val="1462"/>
              </a:lnSpc>
              <a:buFont typeface="Wingdings" panose="05000000000000000000" pitchFamily="2" charset="2"/>
              <a:buChar char="ü"/>
            </a:pPr>
            <a:r>
              <a:rPr sz="1600" b="0" i="0" u="none" dirty="0">
                <a:solidFill>
                  <a:srgbClr val="CBD5E1"/>
                </a:solidFill>
                <a:latin typeface="Inter"/>
              </a:rPr>
              <a:t>Bi-directional linkage between </a:t>
            </a:r>
            <a:r>
              <a:rPr lang="en-IN" sz="1600" b="0" i="0" u="none" dirty="0">
                <a:solidFill>
                  <a:srgbClr val="CBD5E1"/>
                </a:solidFill>
                <a:latin typeface="Inter"/>
              </a:rPr>
              <a:t>	</a:t>
            </a:r>
          </a:p>
          <a:p>
            <a:pPr algn="l">
              <a:lnSpc>
                <a:spcPts val="1462"/>
              </a:lnSpc>
            </a:pPr>
            <a:endParaRPr lang="en-IN" sz="1600" dirty="0">
              <a:solidFill>
                <a:srgbClr val="CBD5E1"/>
              </a:solidFill>
              <a:latin typeface="Inter"/>
            </a:endParaRPr>
          </a:p>
          <a:p>
            <a:pPr algn="l">
              <a:lnSpc>
                <a:spcPts val="1462"/>
              </a:lnSpc>
            </a:pPr>
            <a:r>
              <a:rPr lang="en-IN" sz="1600" dirty="0">
                <a:solidFill>
                  <a:srgbClr val="CBD5E1"/>
                </a:solidFill>
                <a:latin typeface="Inter"/>
              </a:rPr>
              <a:t>	R</a:t>
            </a:r>
            <a:r>
              <a:rPr sz="1600" b="0" i="0" u="none" dirty="0" err="1">
                <a:solidFill>
                  <a:srgbClr val="CBD5E1"/>
                </a:solidFill>
                <a:latin typeface="Inter"/>
              </a:rPr>
              <a:t>equirements</a:t>
            </a:r>
            <a:r>
              <a:rPr sz="1600" b="0" i="0" u="none" dirty="0">
                <a:solidFill>
                  <a:srgbClr val="CBD5E1"/>
                </a:solidFill>
                <a:latin typeface="Inter"/>
              </a:rPr>
              <a:t>, </a:t>
            </a:r>
            <a:endParaRPr lang="en-IN" sz="1600" b="0" i="0" u="none" dirty="0">
              <a:solidFill>
                <a:srgbClr val="CBD5E1"/>
              </a:solidFill>
              <a:latin typeface="Inter"/>
            </a:endParaRPr>
          </a:p>
          <a:p>
            <a:pPr algn="l">
              <a:lnSpc>
                <a:spcPts val="1462"/>
              </a:lnSpc>
            </a:pPr>
            <a:r>
              <a:rPr lang="en-IN" sz="1600" b="0" i="0" u="none" dirty="0">
                <a:solidFill>
                  <a:srgbClr val="CBD5E1"/>
                </a:solidFill>
                <a:latin typeface="Inter"/>
              </a:rPr>
              <a:t>	</a:t>
            </a:r>
          </a:p>
          <a:p>
            <a:pPr algn="l">
              <a:lnSpc>
                <a:spcPts val="1462"/>
              </a:lnSpc>
            </a:pPr>
            <a:r>
              <a:rPr lang="en-IN" sz="1600" dirty="0">
                <a:solidFill>
                  <a:srgbClr val="CBD5E1"/>
                </a:solidFill>
                <a:latin typeface="Inter"/>
              </a:rPr>
              <a:t>	</a:t>
            </a:r>
            <a:r>
              <a:rPr sz="1600" b="0" i="0" u="none" dirty="0">
                <a:solidFill>
                  <a:srgbClr val="CBD5E1"/>
                </a:solidFill>
                <a:latin typeface="Inter"/>
              </a:rPr>
              <a:t>JIRA ticket updates</a:t>
            </a:r>
            <a:endParaRPr lang="en-IN" sz="1600" b="0" i="0" u="none" dirty="0">
              <a:solidFill>
                <a:srgbClr val="CBD5E1"/>
              </a:solidFill>
              <a:latin typeface="Inter"/>
            </a:endParaRPr>
          </a:p>
          <a:p>
            <a:pPr algn="l">
              <a:lnSpc>
                <a:spcPts val="1462"/>
              </a:lnSpc>
            </a:pPr>
            <a:endParaRPr lang="en-IN" sz="1600" dirty="0">
              <a:solidFill>
                <a:srgbClr val="CBD5E1"/>
              </a:solidFill>
              <a:latin typeface="Inter"/>
            </a:endParaRPr>
          </a:p>
          <a:p>
            <a:pPr algn="l">
              <a:lnSpc>
                <a:spcPts val="1462"/>
              </a:lnSpc>
            </a:pPr>
            <a:r>
              <a:rPr lang="en-IN" sz="1600" b="0" i="0" u="none" dirty="0">
                <a:solidFill>
                  <a:srgbClr val="CBD5E1"/>
                </a:solidFill>
                <a:latin typeface="Inter"/>
              </a:rPr>
              <a:t>	Work</a:t>
            </a:r>
            <a:r>
              <a:rPr sz="1600" b="0" i="0" u="none" dirty="0">
                <a:solidFill>
                  <a:srgbClr val="CBD5E1"/>
                </a:solidFill>
                <a:latin typeface="Inter"/>
              </a:rPr>
              <a:t> closure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2129518"/>
            <a:ext cx="285750" cy="2286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2275" y="2243818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87C2EC-9A2C-29C3-D18E-4900C6F89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6AA88C8-8888-C8EB-02DC-EFF2045E3B44}"/>
              </a:ext>
            </a:extLst>
          </p:cNvPr>
          <p:cNvSpPr txBox="1"/>
          <p:nvPr/>
        </p:nvSpPr>
        <p:spPr>
          <a:xfrm>
            <a:off x="381000" y="381000"/>
            <a:ext cx="11811000" cy="7278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endParaRPr lang="en-IN" sz="3600" b="1" i="0" u="none" dirty="0">
              <a:solidFill>
                <a:srgbClr val="FFFFFF"/>
              </a:solidFill>
              <a:latin typeface="Inter"/>
            </a:endParaRPr>
          </a:p>
          <a:p>
            <a:pPr algn="l">
              <a:lnSpc>
                <a:spcPts val="2700"/>
              </a:lnSpc>
            </a:pPr>
            <a:r>
              <a:rPr lang="en-IN" sz="3600" b="1" i="0" u="none" dirty="0">
                <a:solidFill>
                  <a:srgbClr val="FFFFFF"/>
                </a:solidFill>
                <a:latin typeface="Inter"/>
              </a:rPr>
              <a:t>Q&amp;A</a:t>
            </a:r>
            <a:endParaRPr sz="3600" b="1" i="0" u="none" dirty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26AE56-9BBE-08E4-1674-AC49C30F158B}"/>
              </a:ext>
            </a:extLst>
          </p:cNvPr>
          <p:cNvSpPr txBox="1"/>
          <p:nvPr/>
        </p:nvSpPr>
        <p:spPr>
          <a:xfrm>
            <a:off x="805543" y="1730829"/>
            <a:ext cx="729342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bg1"/>
                </a:solidFill>
              </a:rPr>
              <a:t>What repository to consider?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bg1"/>
                </a:solidFill>
              </a:rPr>
              <a:t>What kind of coding tools?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bg1"/>
                </a:solidFill>
              </a:rPr>
              <a:t>Is this high level framework fine for Capstone?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bg1"/>
                </a:solidFill>
              </a:rPr>
              <a:t>Models and metrics to be used for benchmarking?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bg1"/>
                </a:solidFill>
              </a:rPr>
              <a:t>What kind of Guardrails implementation to be considered?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bg1"/>
                </a:solidFill>
              </a:rPr>
              <a:t>PoC or a working Model to be considered for delivery?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bg1"/>
                </a:solidFill>
              </a:rPr>
              <a:t>What is expected in the final report?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bg1"/>
                </a:solidFill>
              </a:rPr>
              <a:t>Any deployment expectation?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713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9947</TotalTime>
  <Words>309</Words>
  <Application>Microsoft Office PowerPoint</Application>
  <PresentationFormat>Widescreen</PresentationFormat>
  <Paragraphs>135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Inter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Kudumula Puneetha Reddy (Nokia)</dc:creator>
  <cp:keywords/>
  <dc:description>generated using python-pptx</dc:description>
  <cp:lastModifiedBy>Kudumula Puneetha Reddy (Nokia)</cp:lastModifiedBy>
  <cp:revision>30</cp:revision>
  <dcterms:created xsi:type="dcterms:W3CDTF">2013-01-27T09:14:16Z</dcterms:created>
  <dcterms:modified xsi:type="dcterms:W3CDTF">2026-09-12T05:07:37Z</dcterms:modified>
  <cp:category/>
</cp:coreProperties>
</file>